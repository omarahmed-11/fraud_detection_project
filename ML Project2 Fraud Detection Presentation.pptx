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42"/>
            <a:ext cx="7772400" cy="1470025"/>
          </a:xfrm>
        </p:spPr>
        <p:txBody>
          <a:bodyPr>
            <a:normAutofit fontScale="90000"/>
          </a:bodyPr>
          <a:lstStyle/>
          <a:p>
            <a:r>
              <a:rPr sz="4800" b="1" dirty="0">
                <a:solidFill>
                  <a:srgbClr val="DCE6F5"/>
                </a:solidFill>
              </a:rPr>
              <a:t>Machine Learning Project 2: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30018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sz="2600" dirty="0">
                <a:solidFill>
                  <a:srgbClr val="C8C8C8"/>
                </a:solidFill>
              </a:rPr>
              <a:t>Seifeldin Tarek</a:t>
            </a:r>
          </a:p>
          <a:p>
            <a:r>
              <a:rPr sz="2600" dirty="0">
                <a:solidFill>
                  <a:srgbClr val="C8C8C8"/>
                </a:solidFill>
              </a:rPr>
              <a:t>Ahmed Ramy</a:t>
            </a:r>
          </a:p>
          <a:p>
            <a:r>
              <a:rPr sz="2600" dirty="0">
                <a:solidFill>
                  <a:srgbClr val="C8C8C8"/>
                </a:solidFill>
              </a:rPr>
              <a:t>Omar Ahmed</a:t>
            </a:r>
          </a:p>
          <a:p>
            <a:r>
              <a:rPr sz="2600" dirty="0">
                <a:solidFill>
                  <a:srgbClr val="C8C8C8"/>
                </a:solidFill>
              </a:rPr>
              <a:t>Ahmed Mahmoud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8543"/>
            <a:ext cx="8229600" cy="2528740"/>
          </a:xfrm>
        </p:spPr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lang="en-GB" sz="2200" dirty="0">
                <a:solidFill>
                  <a:srgbClr val="C8C8C8"/>
                </a:solidFill>
              </a:rPr>
              <a:t>•</a:t>
            </a:r>
            <a:r>
              <a:rPr sz="2200" dirty="0">
                <a:solidFill>
                  <a:srgbClr val="C8C8C8"/>
                </a:solidFill>
              </a:rPr>
              <a:t> Medicare loses billions yearly due to undetected fraud.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Manual investigation cannot scale.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ML helps prioritize high‑risk providers.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Goal: Reduce loss + improve investigation efficiency.</a:t>
            </a:r>
          </a:p>
          <a:p>
            <a:endParaRPr sz="2200" dirty="0">
              <a:solidFill>
                <a:srgbClr val="C8C8C8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58E0B-EC11-4210-8B2F-5B826469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85" y="3731883"/>
            <a:ext cx="3440145" cy="22892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 dirty="0">
                <a:solidFill>
                  <a:srgbClr val="DCE6F5"/>
                </a:solidFill>
              </a:rPr>
              <a:t>Fraud 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408" y="1828800"/>
            <a:ext cx="1645920" cy="914400"/>
          </a:xfrm>
          <a:prstGeom prst="rect">
            <a:avLst/>
          </a:prstGeom>
          <a:solidFill>
            <a:srgbClr val="192D46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dirty="0">
                <a:solidFill>
                  <a:srgbClr val="DCE6F5"/>
                </a:solidFill>
              </a:rPr>
              <a:t>Raw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937208" y="1828800"/>
            <a:ext cx="1645920" cy="914400"/>
          </a:xfrm>
          <a:prstGeom prst="rect">
            <a:avLst/>
          </a:prstGeom>
          <a:solidFill>
            <a:srgbClr val="192D46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Provider Aggregation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766008" y="1828800"/>
            <a:ext cx="1645920" cy="914400"/>
          </a:xfrm>
          <a:prstGeom prst="rect">
            <a:avLst/>
          </a:prstGeom>
          <a:solidFill>
            <a:srgbClr val="192D46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Feature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4808" y="1828800"/>
            <a:ext cx="1645920" cy="914400"/>
          </a:xfrm>
          <a:prstGeom prst="rect">
            <a:avLst/>
          </a:prstGeom>
          <a:solidFill>
            <a:srgbClr val="192D46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423608" y="1828800"/>
            <a:ext cx="1645920" cy="914400"/>
          </a:xfrm>
          <a:prstGeom prst="rect">
            <a:avLst/>
          </a:prstGeom>
          <a:solidFill>
            <a:srgbClr val="192D46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Fraud Risk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5473F9-3A12-4DA8-B6E3-FE1A429FF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198747"/>
            <a:ext cx="457200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Dataset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4468"/>
            <a:ext cx="8229600" cy="3396006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Combined beneficiary, inpatient, outpatient claims.</a:t>
            </a:r>
            <a:endParaRPr lang="en-GB" sz="2200" dirty="0">
              <a:solidFill>
                <a:srgbClr val="C8C8C8"/>
              </a:solidFill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C8C8C8"/>
                </a:solidFill>
              </a:rPr>
              <a:t>• Aggregated into provider-level dataset.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8C8C8"/>
                </a:solidFill>
              </a:rPr>
              <a:t>• Cleaned missing values &amp; removed leakage.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Target: Fraud (binary).</a:t>
            </a:r>
            <a:endParaRPr lang="en-US" sz="2200" dirty="0">
              <a:solidFill>
                <a:srgbClr val="C8C8C8"/>
              </a:solidFill>
            </a:endParaRPr>
          </a:p>
          <a:p>
            <a:r>
              <a:rPr lang="en-US" sz="2200" dirty="0">
                <a:solidFill>
                  <a:srgbClr val="C8C8C8"/>
                </a:solidFill>
              </a:rPr>
              <a:t>Top Predictors: </a:t>
            </a:r>
          </a:p>
          <a:p>
            <a:pPr lvl="1"/>
            <a:r>
              <a:rPr lang="en-GB" sz="2200" dirty="0">
                <a:solidFill>
                  <a:srgbClr val="C8C8C8"/>
                </a:solidFill>
              </a:rPr>
              <a:t>Financial: </a:t>
            </a:r>
            <a:r>
              <a:rPr lang="en-GB" sz="2200" dirty="0" err="1">
                <a:solidFill>
                  <a:srgbClr val="C8C8C8"/>
                </a:solidFill>
              </a:rPr>
              <a:t>TotalReimbursement</a:t>
            </a:r>
            <a:r>
              <a:rPr lang="en-GB" sz="2200" dirty="0">
                <a:solidFill>
                  <a:srgbClr val="C8C8C8"/>
                </a:solidFill>
              </a:rPr>
              <a:t> (Fraudsters bill significantly higher amounts).</a:t>
            </a:r>
          </a:p>
          <a:p>
            <a:pPr lvl="1"/>
            <a:r>
              <a:rPr lang="en-GB" sz="2200" dirty="0">
                <a:solidFill>
                  <a:srgbClr val="C8C8C8"/>
                </a:solidFill>
              </a:rPr>
              <a:t>Patient Health: </a:t>
            </a:r>
            <a:r>
              <a:rPr lang="en-GB" sz="2200" dirty="0" err="1">
                <a:solidFill>
                  <a:srgbClr val="C8C8C8"/>
                </a:solidFill>
              </a:rPr>
              <a:t>ChronicCond_KidneyDisease</a:t>
            </a:r>
            <a:r>
              <a:rPr lang="en-GB" sz="2200" dirty="0">
                <a:solidFill>
                  <a:srgbClr val="C8C8C8"/>
                </a:solidFill>
              </a:rPr>
              <a:t> (Fraudsters often target vulnerable patients with complex needs).</a:t>
            </a:r>
            <a:endParaRPr sz="2200" dirty="0">
              <a:solidFill>
                <a:srgbClr val="C8C8C8"/>
              </a:solidFill>
            </a:endParaRPr>
          </a:p>
          <a:p>
            <a:endParaRPr sz="2200" dirty="0">
              <a:solidFill>
                <a:srgbClr val="C8C8C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Methodology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3083508"/>
            <a:ext cx="1463040" cy="822960"/>
          </a:xfrm>
          <a:prstGeom prst="rect">
            <a:avLst/>
          </a:prstGeom>
          <a:solidFill>
            <a:srgbClr val="1E3755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60% 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83508"/>
            <a:ext cx="1463040" cy="822960"/>
          </a:xfrm>
          <a:prstGeom prst="rect">
            <a:avLst/>
          </a:prstGeom>
          <a:solidFill>
            <a:srgbClr val="1E3755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20%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3083508"/>
            <a:ext cx="1463040" cy="822960"/>
          </a:xfrm>
          <a:prstGeom prst="rect">
            <a:avLst/>
          </a:prstGeom>
          <a:solidFill>
            <a:srgbClr val="1E3755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20%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3083508"/>
            <a:ext cx="1463040" cy="822960"/>
          </a:xfrm>
          <a:prstGeom prst="rect">
            <a:avLst/>
          </a:prstGeom>
          <a:solidFill>
            <a:srgbClr val="1E3755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Class Weighting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3083508"/>
            <a:ext cx="1463040" cy="822960"/>
          </a:xfrm>
          <a:prstGeom prst="rect">
            <a:avLst/>
          </a:prstGeom>
          <a:solidFill>
            <a:srgbClr val="1E3755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>
                <a:solidFill>
                  <a:srgbClr val="DCE6F5"/>
                </a:solidFill>
              </a:rPr>
              <a:t>Model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Models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C8C8C8"/>
                </a:solidFill>
              </a:rPr>
              <a:t> Logistic Regression (Final Model)</a:t>
            </a:r>
          </a:p>
          <a:p>
            <a:r>
              <a:rPr lang="en-GB" sz="2200" dirty="0">
                <a:solidFill>
                  <a:srgbClr val="C8C8C8"/>
                </a:solidFill>
              </a:rPr>
              <a:t> </a:t>
            </a:r>
            <a:r>
              <a:rPr sz="2200" dirty="0">
                <a:solidFill>
                  <a:srgbClr val="C8C8C8"/>
                </a:solidFill>
              </a:rPr>
              <a:t>Random Forest</a:t>
            </a:r>
          </a:p>
          <a:p>
            <a:r>
              <a:rPr sz="2200" dirty="0">
                <a:solidFill>
                  <a:srgbClr val="C8C8C8"/>
                </a:solidFill>
              </a:rPr>
              <a:t> Gradient Boosting</a:t>
            </a:r>
          </a:p>
          <a:p>
            <a:endParaRPr sz="2200" dirty="0">
              <a:solidFill>
                <a:srgbClr val="C8C8C8"/>
              </a:solidFill>
            </a:endParaRPr>
          </a:p>
          <a:p>
            <a:r>
              <a:rPr sz="2200" dirty="0">
                <a:solidFill>
                  <a:srgbClr val="C8C8C8"/>
                </a:solidFill>
              </a:rPr>
              <a:t>Logistic Regression performed best based on validation Recall &amp; PR‑AUC.</a:t>
            </a:r>
          </a:p>
          <a:p>
            <a:endParaRPr sz="2200" dirty="0">
              <a:solidFill>
                <a:srgbClr val="C8C8C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Final 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C8C8C8"/>
                </a:solidFill>
              </a:rPr>
              <a:t>• Precision: </a:t>
            </a:r>
            <a:r>
              <a:rPr lang="en-GB" sz="2200" dirty="0">
                <a:solidFill>
                  <a:srgbClr val="C8C8C8"/>
                </a:solidFill>
              </a:rPr>
              <a:t>0.95</a:t>
            </a:r>
          </a:p>
          <a:p>
            <a:r>
              <a:rPr lang="en-GB" sz="2200" dirty="0">
                <a:solidFill>
                  <a:srgbClr val="C8C8C8"/>
                </a:solidFill>
              </a:rPr>
              <a:t>• Recall: 1.00</a:t>
            </a:r>
          </a:p>
          <a:p>
            <a:r>
              <a:rPr sz="2200" dirty="0">
                <a:solidFill>
                  <a:srgbClr val="C8C8C8"/>
                </a:solidFill>
              </a:rPr>
              <a:t>• F1: 0.</a:t>
            </a:r>
            <a:r>
              <a:rPr lang="en-US" sz="2200" dirty="0">
                <a:solidFill>
                  <a:srgbClr val="C8C8C8"/>
                </a:solidFill>
              </a:rPr>
              <a:t>98</a:t>
            </a:r>
            <a:endParaRPr sz="2200" dirty="0">
              <a:solidFill>
                <a:srgbClr val="C8C8C8"/>
              </a:solidFill>
            </a:endParaRPr>
          </a:p>
          <a:p>
            <a:r>
              <a:rPr sz="2200" dirty="0">
                <a:solidFill>
                  <a:srgbClr val="C8C8C8"/>
                </a:solidFill>
              </a:rPr>
              <a:t>• ROC‑AUC: </a:t>
            </a:r>
            <a:r>
              <a:rPr lang="en-US" sz="2200" dirty="0">
                <a:solidFill>
                  <a:srgbClr val="C8C8C8"/>
                </a:solidFill>
              </a:rPr>
              <a:t>1.00</a:t>
            </a:r>
            <a:endParaRPr sz="2200" dirty="0">
              <a:solidFill>
                <a:srgbClr val="C8C8C8"/>
              </a:solidFill>
            </a:endParaRPr>
          </a:p>
          <a:p>
            <a:r>
              <a:rPr sz="2200" dirty="0">
                <a:solidFill>
                  <a:srgbClr val="C8C8C8"/>
                </a:solidFill>
              </a:rPr>
              <a:t>• PR‑AUC: </a:t>
            </a:r>
            <a:r>
              <a:rPr lang="en-US" sz="2200" dirty="0">
                <a:solidFill>
                  <a:srgbClr val="C8C8C8"/>
                </a:solidFill>
              </a:rPr>
              <a:t>1.00</a:t>
            </a:r>
            <a:endParaRPr sz="2200" dirty="0">
              <a:solidFill>
                <a:srgbClr val="C8C8C8"/>
              </a:solidFill>
            </a:endParaRPr>
          </a:p>
          <a:p>
            <a:endParaRPr sz="2200" dirty="0">
              <a:solidFill>
                <a:srgbClr val="C8C8C8"/>
              </a:solidFill>
            </a:endParaRPr>
          </a:p>
          <a:p>
            <a:r>
              <a:rPr lang="en-GB" sz="2200" dirty="0">
                <a:solidFill>
                  <a:srgbClr val="C8C8C8"/>
                </a:solidFill>
              </a:rPr>
              <a:t>High Recall (1.0) -&gt; catches all known fraud cases in the test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Detects high‑risk providers early.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Reduces Medicare financial losses.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Minimizes unnecessary investigations.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Provides interpretable, reliable risk scoring.</a:t>
            </a:r>
          </a:p>
          <a:p>
            <a:endParaRPr sz="2200" dirty="0">
              <a:solidFill>
                <a:srgbClr val="C8C8C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>
                <a:solidFill>
                  <a:srgbClr val="DCE6F5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Logistic Regression gave best balanced results.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Strong recall with stable performance.</a:t>
            </a:r>
          </a:p>
          <a:p>
            <a:pPr marL="0" indent="0">
              <a:buNone/>
            </a:pPr>
            <a:r>
              <a:rPr sz="2200" dirty="0">
                <a:solidFill>
                  <a:srgbClr val="C8C8C8"/>
                </a:solidFill>
              </a:rPr>
              <a:t>• Clean, interpretable fraud detection pipeline.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8C8C8"/>
                </a:solidFill>
              </a:rPr>
              <a:t>•</a:t>
            </a:r>
            <a:r>
              <a:rPr sz="2200" dirty="0">
                <a:solidFill>
                  <a:srgbClr val="C8C8C8"/>
                </a:solidFill>
              </a:rPr>
              <a:t> Ready for extension with more features &amp; models.</a:t>
            </a:r>
          </a:p>
          <a:p>
            <a:endParaRPr sz="2200" dirty="0">
              <a:solidFill>
                <a:srgbClr val="C8C8C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42"/>
            <a:ext cx="7772400" cy="147002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DCE6F5"/>
                </a:solidFill>
              </a:rPr>
              <a:t>Any Questions?</a:t>
            </a:r>
            <a:endParaRPr sz="4800" b="1" dirty="0">
              <a:solidFill>
                <a:srgbClr val="DCE6F5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6186" y="2971767"/>
            <a:ext cx="6400800" cy="175260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C8C8C8"/>
                </a:solidFill>
              </a:rPr>
              <a:t>Thank you!</a:t>
            </a:r>
            <a:endParaRPr sz="2600" dirty="0">
              <a:solidFill>
                <a:srgbClr val="C8C8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69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282</Words>
  <Application>Microsoft Office PowerPoint</Application>
  <PresentationFormat>On-screen Show (4:3)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Machine Learning Project 2: Fraud Detection</vt:lpstr>
      <vt:lpstr>Problem Overview</vt:lpstr>
      <vt:lpstr>Fraud Detection Pipeline</vt:lpstr>
      <vt:lpstr>Dataset &amp; Preparation</vt:lpstr>
      <vt:lpstr>Methodology Flowchart</vt:lpstr>
      <vt:lpstr>Models Compared</vt:lpstr>
      <vt:lpstr>Final Evaluation Results</vt:lpstr>
      <vt:lpstr>Business Impact</vt:lpstr>
      <vt:lpstr>Conclusion</vt:lpstr>
      <vt:lpstr>Any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Project 2: Fraud Detection</dc:title>
  <dc:subject/>
  <dc:creator>Ahmed Ramy</dc:creator>
  <cp:keywords/>
  <dc:description>generated using python-pptx</dc:description>
  <cp:lastModifiedBy>Ahmed Ramy</cp:lastModifiedBy>
  <cp:revision>11</cp:revision>
  <dcterms:created xsi:type="dcterms:W3CDTF">2013-01-27T09:14:16Z</dcterms:created>
  <dcterms:modified xsi:type="dcterms:W3CDTF">2025-12-05T16:37:13Z</dcterms:modified>
  <cp:category/>
</cp:coreProperties>
</file>